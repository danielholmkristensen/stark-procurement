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430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STARK Procurement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B9BDD7"/>
                </a:solidFill>
                <a:latin typeface="Arial"/>
              </a:defRPr>
            </a:pPr>
            <a:r>
              <a:t>Scope Definition Brief for Kim Christensen  •  March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3657600"/>
            <a:ext cx="5029200" cy="45720"/>
          </a:xfrm>
          <a:prstGeom prst="rect">
            <a:avLst/>
          </a:prstGeom>
          <a:solidFill>
            <a:srgbClr val="F58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430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Executive 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What We Are Building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A Procurement System handling the complete Purchase-to-Pay workflow:</a:t>
            </a: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  PR Ingestion → PO Generation → Supplier Communication → Invoice Matching → Approval</a:t>
            </a: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NOT building: Warehouse Management, Financial Accounting, E-commerce, Demand Planning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Scale &amp; Volume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838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32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Annual Volume</a:t>
                      </a:r>
                    </a:p>
                  </a:txBody>
                  <a:tcPr>
                    <a:solidFill>
                      <a:srgbClr val="00326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326E"/>
                          </a:solidFill>
                          <a:latin typeface="Arial"/>
                        </a:defRPr>
                      </a:pPr>
                      <a:r>
                        <a:t>Purchase Orders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326E"/>
                          </a:solidFill>
                          <a:latin typeface="Arial"/>
                        </a:defRPr>
                      </a:pPr>
                      <a:r>
                        <a:t>750,000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326E"/>
                          </a:solidFill>
                          <a:latin typeface="Arial"/>
                        </a:defRPr>
                      </a:pPr>
                      <a:r>
                        <a:t>PO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326E"/>
                          </a:solidFill>
                          <a:latin typeface="Arial"/>
                        </a:defRPr>
                      </a:pPr>
                      <a:r>
                        <a:t>€1.1B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326E"/>
                          </a:solidFill>
                          <a:latin typeface="Arial"/>
                        </a:defRPr>
                      </a:pPr>
                      <a:r>
                        <a:t>Suppliers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326E"/>
                          </a:solidFill>
                          <a:latin typeface="Arial"/>
                        </a:defRPr>
                      </a:pPr>
                      <a:r>
                        <a:t>10,000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326E"/>
                          </a:solidFill>
                          <a:latin typeface="Arial"/>
                        </a:defRPr>
                      </a:pPr>
                      <a:r>
                        <a:t>Branches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326E"/>
                          </a:solidFill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326E"/>
                          </a:solidFill>
                          <a:latin typeface="Arial"/>
                        </a:defRPr>
                      </a:pPr>
                      <a:r>
                        <a:t>System Users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326E"/>
                          </a:solidFill>
                          <a:latin typeface="Arial"/>
                        </a:defRPr>
                      </a:pPr>
                      <a:r>
                        <a:t>30 procurement staff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430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System Architecture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System Context — External Boundaries</a:t>
            </a:r>
          </a:p>
        </p:txBody>
      </p:sp>
      <p:pic>
        <p:nvPicPr>
          <p:cNvPr id="4" name="Picture 3" descr="01-system-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795760" cy="77530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9224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00326E"/>
                </a:solidFill>
                <a:latin typeface="Arial"/>
              </a:defRPr>
            </a:pPr>
            <a:r>
              <a:t>C4 Level 1: STARK Procurement and its interactions with external systems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Container Architecture — Internal Components</a:t>
            </a:r>
          </a:p>
        </p:txBody>
      </p:sp>
      <p:pic>
        <p:nvPicPr>
          <p:cNvPr id="4" name="Picture 3" descr="02-container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795760" cy="7148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9224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00326E"/>
                </a:solidFill>
                <a:latin typeface="Arial"/>
              </a:defRPr>
            </a:pPr>
            <a:r>
              <a:t>C4 Level 2: Web Application, API Layer, Database, Cache, Kafka Consumers/Producers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430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Process &amp; Workflow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End-to-End Process Flow</a:t>
            </a:r>
          </a:p>
        </p:txBody>
      </p:sp>
      <p:pic>
        <p:nvPicPr>
          <p:cNvPr id="4" name="Picture 3" descr="03-process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795760" cy="27223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9224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00326E"/>
                </a:solidFill>
                <a:latin typeface="Arial"/>
              </a:defRPr>
            </a:pPr>
            <a:r>
              <a:t>PR to Payment: 6 stages from ingestion through invoice approval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Approval Workflow</a:t>
            </a:r>
          </a:p>
        </p:txBody>
      </p:sp>
      <p:pic>
        <p:nvPicPr>
          <p:cNvPr id="4" name="Picture 3" descr="05-approval-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795760" cy="50654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9224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00326E"/>
                </a:solidFill>
                <a:latin typeface="Arial"/>
              </a:defRPr>
            </a:pPr>
            <a:r>
              <a:t>Authority matrix, delegation, multi-level approval (4-eyes), and escalation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430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Integration Architecture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Kafka Integration — Topic Topology</a:t>
            </a:r>
          </a:p>
        </p:txBody>
      </p:sp>
      <p:pic>
        <p:nvPicPr>
          <p:cNvPr id="4" name="Picture 3" descr="04-kafka-inte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795760" cy="47638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9224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00326E"/>
                </a:solidFill>
                <a:latin typeface="Arial"/>
              </a:defRPr>
            </a:pPr>
            <a:r>
              <a:t>Per-source inbound topics, per-channel outbound, DLQ patterns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Kafka-Native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• Per-source inbound topics: Relex, ECom, SalesApp, Aspect4</a:t>
            </a: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• Per-channel outbound topics: EDI, Email, Finance exports</a:t>
            </a: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• Dead Letter Queues (DLQ) for failure handling per source/channel</a:t>
            </a: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• Event topics for informational notifications (IDs + metadata)</a:t>
            </a: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• REST fallback for non-Kafka sources (internally publishes to Kafka)</a:t>
            </a: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• ACL-based security with SASL/mTLS authentication</a:t>
            </a: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• Customer provisions topics; vendor delivers specs and code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430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Data Model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Entity Relationships</a:t>
            </a:r>
          </a:p>
        </p:txBody>
      </p:sp>
      <p:pic>
        <p:nvPicPr>
          <p:cNvPr id="4" name="Picture 3" descr="06-data-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795760" cy="61620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9224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00326E"/>
                </a:solidFill>
                <a:latin typeface="Arial"/>
              </a:defRPr>
            </a:pPr>
            <a:r>
              <a:t>Core entities: PR, PO, Invoice, Approval, Delegation, Supplier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430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User Experience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Users &amp; Roles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12573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0032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0032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Primary Function</a:t>
                      </a:r>
                    </a:p>
                  </a:txBody>
                  <a:tcPr>
                    <a:solidFill>
                      <a:srgbClr val="00326E"/>
                    </a:solidFill>
                  </a:tcPr>
                </a:tc>
              </a:tr>
              <a:tr h="12573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326E"/>
                          </a:solidFill>
                          <a:latin typeface="Arial"/>
                        </a:defRPr>
                      </a:pPr>
                      <a:r>
                        <a:t>Buyer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326E"/>
                          </a:solidFill>
                          <a:latin typeface="Arial"/>
                        </a:defRPr>
                      </a:pPr>
                      <a:r>
                        <a:t>~20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326E"/>
                          </a:solidFill>
                          <a:latin typeface="Arial"/>
                        </a:defRPr>
                      </a:pPr>
                      <a:r>
                        <a:t>PR review, PO creation, bundling, invoice matching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</a:tr>
              <a:tr h="12573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326E"/>
                          </a:solidFill>
                          <a:latin typeface="Arial"/>
                        </a:defRPr>
                      </a:pPr>
                      <a:r>
                        <a:t>Approver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326E"/>
                          </a:solidFill>
                          <a:latin typeface="Arial"/>
                        </a:defRPr>
                      </a:pPr>
                      <a:r>
                        <a:t>~8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326E"/>
                          </a:solidFill>
                          <a:latin typeface="Arial"/>
                        </a:defRPr>
                      </a:pPr>
                      <a:r>
                        <a:t>PO approval, invoice approval, exception handling</a:t>
                      </a:r>
                    </a:p>
                  </a:txBody>
                  <a:tcPr/>
                </a:tc>
              </a:tr>
              <a:tr h="12573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326E"/>
                          </a:solidFill>
                          <a:latin typeface="Arial"/>
                        </a:defRPr>
                      </a:pPr>
                      <a:r>
                        <a:t>Admin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326E"/>
                          </a:solidFill>
                          <a:latin typeface="Arial"/>
                        </a:defRPr>
                      </a:pPr>
                      <a:r>
                        <a:t>~2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326E"/>
                          </a:solidFill>
                          <a:latin typeface="Arial"/>
                        </a:defRPr>
                      </a:pPr>
                      <a:r>
                        <a:t>System configuration, user support, reporting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Screen Navigation — 16 Screens</a:t>
            </a:r>
          </a:p>
        </p:txBody>
      </p:sp>
      <p:pic>
        <p:nvPicPr>
          <p:cNvPr id="4" name="Picture 3" descr="07-screen-nav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795760" cy="40605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9224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00326E"/>
                </a:solidFill>
                <a:latin typeface="Arial"/>
              </a:defRPr>
            </a:pPr>
            <a:r>
              <a:t>Dashboard-centric navigation with functional modules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Buyer's Morning — User Journey</a:t>
            </a:r>
          </a:p>
        </p:txBody>
      </p:sp>
      <p:pic>
        <p:nvPicPr>
          <p:cNvPr id="4" name="Picture 3" descr="08-user-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795760" cy="5628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9224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00326E"/>
                </a:solidFill>
                <a:latin typeface="Arial"/>
              </a:defRPr>
            </a:pPr>
            <a:r>
              <a:t>Pain point identified: 'Resolve discrepancies' needs careful UX design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430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Scope Summary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What's IN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• 16 screens: Dashboard, PR Inbox, PO Management, Invoice Matching, Approvals</a:t>
            </a: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• Bundling Workspace: Group PRs into optimized POs with packet labeling</a:t>
            </a: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• 2-Way Invoice Match: PO to Invoice with tolerance rules</a:t>
            </a: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• Approval Workflow: Per-user limits, multi-level chains, delegation</a:t>
            </a: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• Kafka Integration: Per-source consumers, per-channel producers, DLQ handling</a:t>
            </a: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• Audit Trail: Full traceability of all decisions and changes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What's OUT of Scope (Phase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• Stock Transfer Orders (STO) — Requires NYCE WMS [FUTURE]</a:t>
            </a: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• 3-Way Invoice Match — Requires goods receipt from NYCE [FUTURE]</a:t>
            </a: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• SAP Finance Integration — Direct API [FUTURE]</a:t>
            </a: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• Supplier Portal — Enhancement, not MVP [Phase 3]</a:t>
            </a: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• Mobile Native App — Enhancement [Phase 3]</a:t>
            </a: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• Advanced Analytics/BI — Different project [BI team]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Dependencies We Assume Ready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• Relex PR feed — READY (automated replenishment)</a:t>
            </a: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• ECom PR feed — READY (drop-shipment PRs)</a:t>
            </a: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• Stark Output — READY (EDI/Email delivery to suppliers)</a:t>
            </a: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• SSO/IAM — READY (user authentication)</a:t>
            </a: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• STARK Kafka cluster — READY (customer provisions topics)</a:t>
            </a: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• Supplier Master Data — READY (via MDM)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430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Next Steps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Proposed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1. Review and sign-off on scope boundaries</a:t>
            </a: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2. Confirm Kafka topic provisioning timeline</a:t>
            </a: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3. Align on integration schema specifications</a:t>
            </a: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4. Schedule technical deep-dive with STARK IT team</a:t>
            </a:r>
          </a:p>
          <a:p>
            <a:pPr>
              <a:spcBef>
                <a:spcPts val="800"/>
              </a:spcBef>
              <a:defRPr sz="1800">
                <a:solidFill>
                  <a:srgbClr val="00326E"/>
                </a:solidFill>
                <a:latin typeface="Arial"/>
              </a:defRPr>
            </a:pPr>
            <a:r>
              <a:t>5. Finalize fixed-price commitment based on agreed scope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430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B9BDD7"/>
                </a:solidFill>
                <a:latin typeface="Arial"/>
              </a:defRPr>
            </a:pPr>
            <a:r>
              <a:t>Questions &amp; 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3657600"/>
            <a:ext cx="5029200" cy="45720"/>
          </a:xfrm>
          <a:prstGeom prst="rect">
            <a:avLst/>
          </a:prstGeom>
          <a:solidFill>
            <a:srgbClr val="F58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