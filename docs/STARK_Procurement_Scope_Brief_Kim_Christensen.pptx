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9144000" y="457200"/>
            <a:ext cx="1828800" cy="1828800"/>
          </a:xfrm>
          <a:prstGeom prst="rect">
            <a:avLst/>
          </a:prstGeom>
          <a:noFill/>
          <a:ln w="12700">
            <a:solidFill>
              <a:srgbClr val="454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48640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E6E6E1"/>
                </a:solidFill>
                <a:latin typeface="Arial"/>
              </a:defRPr>
            </a:pPr>
            <a:r>
              <a:t>STARK Procurement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A1A19D"/>
                </a:solidFill>
                <a:latin typeface="Arial"/>
              </a:defRPr>
            </a:pPr>
            <a:r>
              <a:t>Scope Definition Brief  •  Kim Christensen  •  March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0"/>
                </a:solidFill>
                <a:latin typeface="Arial"/>
              </a:defRPr>
            </a:pPr>
            <a:r>
              <a:t>Engineering &gt; Prompting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What We're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 Procurement System handling the complete Purchase-to-Pay workflow: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PR Ingestion → PO Generation → Supplier Communication → Invoice Matching → Approval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NOT building:</a:t>
            </a:r>
          </a:p>
          <a:p>
            <a:pPr>
              <a:spcBef>
                <a:spcPts val="1200"/>
              </a:spcBef>
              <a:defRPr sz="1800">
                <a:solidFill>
                  <a:srgbClr val="A1A19D"/>
                </a:solidFill>
                <a:latin typeface="Arial"/>
              </a:defRPr>
            </a:pPr>
            <a:r>
              <a:t>  Warehouse Management • Financial Accounting • E-commerce • Demand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Scale &amp;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10515600" cy="3291839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548639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E6E6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Annual Volume</a:t>
                      </a:r>
                    </a:p>
                  </a:txBody>
                  <a:tcPr>
                    <a:solidFill>
                      <a:srgbClr val="E6E6E1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Purchase Orders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750,000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PO Value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€1.1B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Suppliers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Branches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System Users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30 procurement staff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System Context — External Boundaries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system-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72121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C4 Level 1: STARK Procurement and its interactions with external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Container Architecture — Internal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-container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665004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C4 Level 2: Web Application, API Layer, Database, Cache, Kafka Consumers/Producers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Process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End-to-End Process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-process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2532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PR to Payment: 6 stages from ingestion through invoice approval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Approval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-approval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47120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Authority matrix, delegation, multi-level approval (4-eyes), and escalation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Integration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Kafka Integration — Topic Topology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-kafka-integ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44314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Per-source inbound topics, per-channel outbound, DLQ patterns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Kafka-Native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Per-source inbound topics: Relex, ECom, SalesApp, Aspect4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Per-channel outbound topics: EDI, Email, Finance exports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Dead Letter Queues (DLQ) for failure handling per source/channel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Event topics for informational notifications (IDs + metadata)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REST fallback for non-Kafka sources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ACL-based security with SASL/mTLS authentication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Customer provisions topics; vendor delivers specs and code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Entity Relationships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-data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5732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Core entities: PR, PO, Invoice, Approval, Delegation, Supplier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User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Users &amp;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600200"/>
            <a:ext cx="10515600" cy="219456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E6E6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E6E6E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Primary Function</a:t>
                      </a:r>
                    </a:p>
                  </a:txBody>
                  <a:tcPr>
                    <a:solidFill>
                      <a:srgbClr val="E6E6E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Buyer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~20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PR review, PO creation, bundling, invoice matching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Approver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~8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PO approval, invoice approval, exception handling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~2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CFCFCA"/>
                          </a:solidFill>
                          <a:latin typeface="Arial"/>
                        </a:defRPr>
                      </a:pPr>
                      <a:r>
                        <a:t>System configuration, user support, reporting</a:t>
                      </a:r>
                    </a:p>
                  </a:txBody>
                  <a:tcPr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Screen Navigation — 16 Screens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-screen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3777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Dashboard-centric navigation with functional modules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E6E6E1"/>
                </a:solidFill>
                <a:latin typeface="Arial"/>
              </a:defRPr>
            </a:pPr>
            <a:r>
              <a:t>Buyer's Morning — User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1155680" cy="5120640"/>
          </a:xfrm>
          <a:prstGeom prst="rect">
            <a:avLst/>
          </a:prstGeom>
          <a:solidFill>
            <a:srgbClr val="2E2E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11556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-user-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10972800" cy="52359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i="1">
                <a:solidFill>
                  <a:srgbClr val="737370"/>
                </a:solidFill>
                <a:latin typeface="Arial"/>
              </a:defRPr>
            </a:pPr>
            <a:r>
              <a:t>Pain point identified: 'Resolve discrepancies' needs careful UX design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Scope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What's IN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16 screens: Dashboard, PR Inbox, PO Management, Invoice Matching, Approvals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Bundling Workspace: Group PRs into optimized POs with packet labeling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2-Way Invoice Match: PO to Invoice with tolerance rules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Approval Workflow: Per-user limits, multi-level chains, delegation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Kafka Integration: Per-source consumers, per-channel producers, DLQ handling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Audit Trail: Full traceability of all decisions and changes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What's OUT of Scope (Phase 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Stock Transfer Orders (STO) — Requires NYCE WMS [FUTURE]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3-Way Invoice Match — Requires goods receipt from NYCE [FUTURE]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SAP Finance Integration — Direct API [FUTURE]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Supplier Portal — Enhancement, not MVP [Phase 3]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Mobile Native App — Enhancement [Phase 3]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Advanced Analytics/BI — Different project [BI team]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Dependencies We Assume Ready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Relex PR feed — READY (automated replenishment)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ECom PR feed — READY (drop-shipment PRs)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Stark Output — READY (EDI/Email delivery to suppliers)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SSO/IAM — READY (user authentication)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STARK Kafka cluster — READY (customer provisions topics)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Supplier Master Data — READY (via MDM)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828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>
                <a:solidFill>
                  <a:srgbClr val="454543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600" b="1">
                <a:solidFill>
                  <a:srgbClr val="E6E6E1"/>
                </a:solidFill>
                <a:latin typeface="Arial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389120"/>
            <a:ext cx="3657600" cy="27432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Proposed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1. Review and sign-off on scope boundaries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2. Confirm Kafka topic provisioning timeline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3. Align on integration schema specifications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4. Schedule technical deep-dive with STARK IT team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5. Finalize fixed-price commitment based on agreed scope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E6E1"/>
                </a:solidFill>
                <a:latin typeface="Arial"/>
              </a:defRPr>
            </a:pPr>
            <a:r>
              <a:t>Agentic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This is NOT 'AI-assisted development'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AI-assisted: Human writes code, AI suggests completions</a:t>
            </a: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Agentic: AI agents execute engineering tasks autonomously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Agents do the work. Humans set the direction.</a:t>
            </a:r>
          </a:p>
          <a:p>
            <a:pPr>
              <a:spcBef>
                <a:spcPts val="600"/>
              </a:spcBef>
            </a:pPr>
          </a:p>
          <a:p>
            <a:pPr>
              <a:spcBef>
                <a:spcPts val="1200"/>
              </a:spcBef>
              <a:defRPr sz="1800">
                <a:solidFill>
                  <a:srgbClr val="CFCFCA"/>
                </a:solidFill>
                <a:latin typeface="Arial"/>
              </a:defRPr>
            </a:pPr>
            <a:r>
              <a:t>Fixed price per delivery. No rates. No surprises.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73152" cy="2743200"/>
          </a:xfrm>
          <a:prstGeom prst="rect">
            <a:avLst/>
          </a:prstGeom>
          <a:solidFill>
            <a:srgbClr val="7373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i="1">
                <a:solidFill>
                  <a:srgbClr val="CFCFCA"/>
                </a:solidFill>
                <a:latin typeface="Arial"/>
              </a:defRPr>
            </a:pPr>
            <a:r>
              <a:t>"Agents do the work. Humans set the direction. That's Agentic Engineering."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737370"/>
                </a:solidFill>
                <a:latin typeface="Arial"/>
              </a:defRPr>
            </a:pPr>
            <a:r>
              <a:t>— AGENTIC AGENCY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720000">
            <a:off x="9144000" y="457200"/>
            <a:ext cx="1828800" cy="1828800"/>
          </a:xfrm>
          <a:prstGeom prst="rect">
            <a:avLst/>
          </a:prstGeom>
          <a:noFill/>
          <a:ln w="12700">
            <a:solidFill>
              <a:srgbClr val="4545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5486400"/>
            <a:ext cx="2743200" cy="18288"/>
          </a:xfrm>
          <a:prstGeom prst="rect">
            <a:avLst/>
          </a:prstGeom>
          <a:solidFill>
            <a:srgbClr val="4545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1">
                <a:solidFill>
                  <a:srgbClr val="E6E6E1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A1A19D"/>
                </a:solidFill>
                <a:latin typeface="Arial"/>
              </a:defRPr>
            </a:pPr>
            <a: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21792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737370"/>
                </a:solidFill>
                <a:latin typeface="Arial"/>
              </a:defRPr>
            </a:pPr>
            <a:r>
              <a:t>Engineering &gt; Prompting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