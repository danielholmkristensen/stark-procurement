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720000">
            <a:off x="9144000" y="457200"/>
            <a:ext cx="1828800" cy="1828800"/>
          </a:xfrm>
          <a:prstGeom prst="rect">
            <a:avLst/>
          </a:prstGeom>
          <a:noFill/>
          <a:ln w="12700">
            <a:solidFill>
              <a:srgbClr val="4545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5486400"/>
            <a:ext cx="2743200" cy="18288"/>
          </a:xfrm>
          <a:prstGeom prst="rect">
            <a:avLst/>
          </a:prstGeom>
          <a:solidFill>
            <a:srgbClr val="454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200" b="1">
                <a:solidFill>
                  <a:srgbClr val="E6E6E1"/>
                </a:solidFill>
                <a:latin typeface="Arial"/>
              </a:defRPr>
            </a:pPr>
            <a:r>
              <a:t>STARK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A1A19D"/>
                </a:solidFill>
                <a:latin typeface="Arial"/>
              </a:defRPr>
            </a:pPr>
            <a:r>
              <a:t>Scope Definition Brief  •  Kim Christensen  •  March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2179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737370"/>
                </a:solidFill>
                <a:latin typeface="Arial"/>
              </a:defRPr>
            </a:pPr>
            <a:r>
              <a:t>Engineering &gt; Prompting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>
                <a:solidFill>
                  <a:srgbClr val="454543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E6E6E1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3657600" cy="27432"/>
          </a:xfrm>
          <a:prstGeom prst="rect">
            <a:avLst/>
          </a:prstGeom>
          <a:solidFill>
            <a:srgbClr val="737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6E6E1"/>
                </a:solidFill>
                <a:latin typeface="Arial"/>
              </a:defRPr>
            </a:pPr>
            <a:r>
              <a:t>What We're Building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743200" cy="18288"/>
          </a:xfrm>
          <a:prstGeom prst="rect">
            <a:avLst/>
          </a:prstGeom>
          <a:solidFill>
            <a:srgbClr val="454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A Procurement System handling the complete Purchase-to-Pay workflow:</a:t>
            </a:r>
          </a:p>
          <a:p>
            <a:pPr>
              <a:spcBef>
                <a:spcPts val="600"/>
              </a:spcBef>
            </a:pPr>
            <a:endParaRPr/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PR Ingestion → PO Generation → Supplier Communication → Invoice Matching → Approval</a:t>
            </a:r>
          </a:p>
          <a:p>
            <a:pPr>
              <a:spcBef>
                <a:spcPts val="600"/>
              </a:spcBef>
            </a:pPr>
            <a:endParaRPr/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NOT building:</a:t>
            </a:r>
          </a:p>
          <a:p>
            <a:pPr>
              <a:spcBef>
                <a:spcPts val="1200"/>
              </a:spcBef>
              <a:defRPr sz="1800">
                <a:solidFill>
                  <a:srgbClr val="A1A19D"/>
                </a:solidFill>
                <a:latin typeface="Arial"/>
              </a:defRPr>
            </a:pPr>
            <a:r>
              <a:t>  Warehouse Management • Financial Accounting • E-commerce • Demand Planning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6E6E1"/>
                </a:solidFill>
                <a:latin typeface="Arial"/>
              </a:defRPr>
            </a:pPr>
            <a:r>
              <a:t>Scale &amp; Volume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600200"/>
            <a:ext cx="10515600" cy="3291839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39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E6E6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Annual Volume</a:t>
                      </a:r>
                    </a:p>
                  </a:txBody>
                  <a:tcPr>
                    <a:solidFill>
                      <a:srgbClr val="E6E6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Purchase Orders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PO Value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€1.1B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Suppliers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Branches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System Users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30 procurement staff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>
                <a:solidFill>
                  <a:srgbClr val="454543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E6E6E1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3657600" cy="27432"/>
          </a:xfrm>
          <a:prstGeom prst="rect">
            <a:avLst/>
          </a:prstGeom>
          <a:solidFill>
            <a:srgbClr val="737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6E6E1"/>
                </a:solidFill>
                <a:latin typeface="Arial"/>
              </a:defRPr>
            </a:pPr>
            <a:r>
              <a:t>System Context — External Boundaries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11155680" cy="5120640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1556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-system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214" y="1333455"/>
            <a:ext cx="6376465" cy="41910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179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>
                <a:solidFill>
                  <a:srgbClr val="737370"/>
                </a:solidFill>
                <a:latin typeface="Arial"/>
              </a:defRPr>
            </a:pPr>
            <a:r>
              <a:t>C4 Level 1: STARK Procurement and its interactions with external systems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6E6E1"/>
                </a:solidFill>
                <a:latin typeface="Arial"/>
              </a:defRPr>
            </a:pPr>
            <a:r>
              <a:t>Container Architecture — Internal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11155680" cy="5120640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1556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2-contain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16" y="1097280"/>
            <a:ext cx="7742547" cy="46923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179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>
                <a:solidFill>
                  <a:srgbClr val="737370"/>
                </a:solidFill>
                <a:latin typeface="Arial"/>
              </a:defRPr>
            </a:pPr>
            <a:r>
              <a:t>C4 Level 2: Web Application, API Layer, Database, Cache, Kafka Consumers/Producers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>
                <a:solidFill>
                  <a:srgbClr val="454543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E6E6E1"/>
                </a:solidFill>
                <a:latin typeface="Arial"/>
              </a:defRPr>
            </a:pPr>
            <a:r>
              <a:t>Process &amp;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3657600" cy="27432"/>
          </a:xfrm>
          <a:prstGeom prst="rect">
            <a:avLst/>
          </a:prstGeom>
          <a:solidFill>
            <a:srgbClr val="737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6E6E1"/>
                </a:solidFill>
                <a:latin typeface="Arial"/>
              </a:defRPr>
            </a:pPr>
            <a:r>
              <a:t>End-to-End Process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11155680" cy="5120640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1556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3-proces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025" y="2371976"/>
            <a:ext cx="9159949" cy="211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179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>
                <a:solidFill>
                  <a:srgbClr val="737370"/>
                </a:solidFill>
                <a:latin typeface="Arial"/>
              </a:defRPr>
            </a:pPr>
            <a:r>
              <a:t>PR to Payment: 6 stages from ingestion through invoice approval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6E6E1"/>
                </a:solidFill>
                <a:latin typeface="Arial"/>
              </a:defRPr>
            </a:pPr>
            <a:r>
              <a:t>Approval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11155680" cy="5120640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1556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5-approval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751" y="1239756"/>
            <a:ext cx="9344265" cy="40127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179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>
                <a:solidFill>
                  <a:srgbClr val="737370"/>
                </a:solidFill>
                <a:latin typeface="Arial"/>
              </a:defRPr>
            </a:pPr>
            <a:r>
              <a:t>Authority matrix, delegation, multi-level approval (4-eyes), and escalation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>
                <a:solidFill>
                  <a:srgbClr val="454543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E6E6E1"/>
                </a:solidFill>
                <a:latin typeface="Arial"/>
              </a:defRPr>
            </a:pPr>
            <a:r>
              <a:t>Integration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3657600" cy="27432"/>
          </a:xfrm>
          <a:prstGeom prst="rect">
            <a:avLst/>
          </a:prstGeom>
          <a:solidFill>
            <a:srgbClr val="737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6E6E1"/>
                </a:solidFill>
                <a:latin typeface="Arial"/>
              </a:defRPr>
            </a:pPr>
            <a:r>
              <a:t>Kafka Integration — Topic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11155680" cy="5120640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1556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4-kafka-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478" y="1529727"/>
            <a:ext cx="9405561" cy="37985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179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>
                <a:solidFill>
                  <a:srgbClr val="737370"/>
                </a:solidFill>
                <a:latin typeface="Arial"/>
              </a:defRPr>
            </a:pPr>
            <a:r>
              <a:t>Per-source inbound topics, per-channel outbound, DLQ patterns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6E6E1"/>
                </a:solidFill>
                <a:latin typeface="Arial"/>
              </a:defRPr>
            </a:pPr>
            <a:r>
              <a:t>Kafka-Native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743200" cy="18288"/>
          </a:xfrm>
          <a:prstGeom prst="rect">
            <a:avLst/>
          </a:prstGeom>
          <a:solidFill>
            <a:srgbClr val="454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Per-source inbound topics: Relex, ECom, SalesApp, Aspect4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Per-channel outbound topics: EDI, Email, Finance exports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Dead Letter Queues (DLQ) for failure handling per source/channel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Event topics for informational notifications (IDs + metadata)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REST fallback for non-Kafka sources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ACL-based security with SASL/mTLS authentication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Customer provisions topics; vendor delivers specs and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>
                <a:solidFill>
                  <a:srgbClr val="454543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E6E6E1"/>
                </a:solidFill>
                <a:latin typeface="Arial"/>
              </a:defRPr>
            </a:pPr>
            <a:r>
              <a:t>Data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3657600" cy="27432"/>
          </a:xfrm>
          <a:prstGeom prst="rect">
            <a:avLst/>
          </a:prstGeom>
          <a:solidFill>
            <a:srgbClr val="737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6E6E1"/>
                </a:solidFill>
                <a:latin typeface="Arial"/>
              </a:defRPr>
            </a:pPr>
            <a:r>
              <a:t>Entity Relationships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11155680" cy="5120640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1556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6-data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599" y="1005840"/>
            <a:ext cx="8225347" cy="42969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179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>
                <a:solidFill>
                  <a:srgbClr val="737370"/>
                </a:solidFill>
                <a:latin typeface="Arial"/>
              </a:defRPr>
            </a:pPr>
            <a:r>
              <a:t>Core entities: PR, PO, Invoice, Approval, Delegation, Supplier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>
                <a:solidFill>
                  <a:srgbClr val="454543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E6E6E1"/>
                </a:solidFill>
                <a:latin typeface="Arial"/>
              </a:defRPr>
            </a:pPr>
            <a:r>
              <a:t>User 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3657600" cy="27432"/>
          </a:xfrm>
          <a:prstGeom prst="rect">
            <a:avLst/>
          </a:prstGeom>
          <a:solidFill>
            <a:srgbClr val="737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6E6E1"/>
                </a:solidFill>
                <a:latin typeface="Arial"/>
              </a:defRPr>
            </a:pPr>
            <a:r>
              <a:t>Users &amp; Roles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600200"/>
            <a:ext cx="10515600" cy="2194560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E6E6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E6E6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Primary Function</a:t>
                      </a:r>
                    </a:p>
                  </a:txBody>
                  <a:tcPr>
                    <a:solidFill>
                      <a:srgbClr val="E6E6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Buyer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~20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PR review, PO creation, bundling, invoice matching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Approver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~8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PO approval, invoice approval, exception handling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~2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CFCFCA"/>
                          </a:solidFill>
                          <a:latin typeface="Arial"/>
                        </a:defRPr>
                      </a:pPr>
                      <a:r>
                        <a:t>System configuration, user support, reporting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6E6E1"/>
                </a:solidFill>
                <a:latin typeface="Arial"/>
              </a:defRPr>
            </a:pPr>
            <a:r>
              <a:t>Screen Navigation — 16 Screens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11155680" cy="5120640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1556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7-screen-nav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0972800" cy="37772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179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>
                <a:solidFill>
                  <a:srgbClr val="737370"/>
                </a:solidFill>
                <a:latin typeface="Arial"/>
              </a:defRPr>
            </a:pPr>
            <a:r>
              <a:t>Dashboard-centric navigation with functional modules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6E6E1"/>
                </a:solidFill>
                <a:latin typeface="Arial"/>
              </a:defRPr>
            </a:pPr>
            <a:r>
              <a:t>Buyer's Morning — User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11155680" cy="5120640"/>
          </a:xfrm>
          <a:prstGeom prst="rect">
            <a:avLst/>
          </a:prstGeom>
          <a:solidFill>
            <a:srgbClr val="2E2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1556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8-use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147" y="1190950"/>
            <a:ext cx="9380447" cy="447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179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>
                <a:solidFill>
                  <a:srgbClr val="737370"/>
                </a:solidFill>
                <a:latin typeface="Arial"/>
              </a:defRPr>
            </a:pPr>
            <a:r>
              <a:t>Pain point identified: 'Resolve discrepancies' needs careful UX design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>
                <a:solidFill>
                  <a:srgbClr val="454543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E6E6E1"/>
                </a:solidFill>
                <a:latin typeface="Arial"/>
              </a:defRPr>
            </a:pPr>
            <a:r>
              <a:t>Scope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3657600" cy="27432"/>
          </a:xfrm>
          <a:prstGeom prst="rect">
            <a:avLst/>
          </a:prstGeom>
          <a:solidFill>
            <a:srgbClr val="737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6E6E1"/>
                </a:solidFill>
                <a:latin typeface="Arial"/>
              </a:defRPr>
            </a:pPr>
            <a:r>
              <a:t>What's IN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743200" cy="18288"/>
          </a:xfrm>
          <a:prstGeom prst="rect">
            <a:avLst/>
          </a:prstGeom>
          <a:solidFill>
            <a:srgbClr val="454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16 screens: Dashboard, PR Inbox, PO Management, Invoice Matching, Approvals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Bundling Workspace: Group PRs into optimized POs with packet labeling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2-Way Invoice Match: PO to Invoice with tolerance rules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Approval Workflow: Per-user limits, multi-level chains, delegation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Kafka Integration: Per-source consumers, per-channel producers, DLQ handling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Audit Trail: Full traceability of all decisions and changes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6E6E1"/>
                </a:solidFill>
                <a:latin typeface="Arial"/>
              </a:defRPr>
            </a:pPr>
            <a:r>
              <a:t>What's OUT of Scope (Phase 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743200" cy="18288"/>
          </a:xfrm>
          <a:prstGeom prst="rect">
            <a:avLst/>
          </a:prstGeom>
          <a:solidFill>
            <a:srgbClr val="454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Stock Transfer Orders (STO) — Requires NYCE WMS [FUTURE]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3-Way Invoice Match — Requires goods receipt from NYCE [FUTURE]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SAP Finance Integration — Direct API [FUTURE]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Supplier Portal — Enhancement, not MVP [Phase 3]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Mobile Native App — Enhancement [Phase 3]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Advanced Analytics/BI — Different project [BI team]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6E6E1"/>
                </a:solidFill>
                <a:latin typeface="Arial"/>
              </a:defRPr>
            </a:pPr>
            <a:r>
              <a:t>Dependencies We Assume Ready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743200" cy="18288"/>
          </a:xfrm>
          <a:prstGeom prst="rect">
            <a:avLst/>
          </a:prstGeom>
          <a:solidFill>
            <a:srgbClr val="454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Relex PR feed — READY (automated replenishment)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ECom PR feed — READY (drop-shipment PRs)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Stark Output — READY (EDI/Email delivery to suppliers)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SSO/IAM — READY (user authentication)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STARK Kafka cluster — READY (customer provisions topics)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Supplier Master Data — READY (via MDM)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>
                <a:solidFill>
                  <a:srgbClr val="454543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E6E6E1"/>
                </a:solidFill>
                <a:latin typeface="Arial"/>
              </a:defRPr>
            </a:pPr>
            <a: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3657600" cy="27432"/>
          </a:xfrm>
          <a:prstGeom prst="rect">
            <a:avLst/>
          </a:prstGeom>
          <a:solidFill>
            <a:srgbClr val="737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6E6E1"/>
                </a:solidFill>
                <a:latin typeface="Arial"/>
              </a:defRPr>
            </a:pPr>
            <a:r>
              <a:t>Proposed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743200" cy="18288"/>
          </a:xfrm>
          <a:prstGeom prst="rect">
            <a:avLst/>
          </a:prstGeom>
          <a:solidFill>
            <a:srgbClr val="454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1. Review and sign-off on scope boundaries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2. Confirm Kafka topic provisioning timeline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3. Align on integration schema specifications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4. Schedule technical deep-dive with STARK IT team</a:t>
            </a:r>
          </a:p>
          <a:p>
            <a:pPr>
              <a:spcBef>
                <a:spcPts val="1200"/>
              </a:spcBef>
              <a:defRPr sz="1800">
                <a:solidFill>
                  <a:srgbClr val="CFCFCA"/>
                </a:solidFill>
                <a:latin typeface="Arial"/>
              </a:defRPr>
            </a:pPr>
            <a:r>
              <a:t>5. Finalize fixed-price commitment based on agreed scope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73152" cy="2743200"/>
          </a:xfrm>
          <a:prstGeom prst="rect">
            <a:avLst/>
          </a:prstGeom>
          <a:solidFill>
            <a:srgbClr val="737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i="1">
                <a:solidFill>
                  <a:srgbClr val="CFCFCA"/>
                </a:solidFill>
                <a:latin typeface="Arial"/>
              </a:defRPr>
            </a:pPr>
            <a:r>
              <a:t>"There's a gap between 'AI helped me write this function' and 'AI systematically delivered this feature.' That gap has a name."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37370"/>
                </a:solidFill>
                <a:latin typeface="Arial"/>
              </a:defRPr>
            </a:pPr>
            <a:r>
              <a:t>— AGENTIC ENGINEERING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720000">
            <a:off x="9144000" y="457200"/>
            <a:ext cx="1828800" cy="1828800"/>
          </a:xfrm>
          <a:prstGeom prst="rect">
            <a:avLst/>
          </a:prstGeom>
          <a:noFill/>
          <a:ln w="12700">
            <a:solidFill>
              <a:srgbClr val="4545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5486400"/>
            <a:ext cx="2743200" cy="18288"/>
          </a:xfrm>
          <a:prstGeom prst="rect">
            <a:avLst/>
          </a:prstGeom>
          <a:solidFill>
            <a:srgbClr val="454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200" b="1">
                <a:solidFill>
                  <a:srgbClr val="E6E6E1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A1A19D"/>
                </a:solidFill>
                <a:latin typeface="Arial"/>
              </a:defRPr>
            </a:pPr>
            <a: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2179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737370"/>
                </a:solidFill>
                <a:latin typeface="Arial"/>
              </a:defRPr>
            </a:pPr>
            <a:r>
              <a:t>Engineering &gt; Prompting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616</Words>
  <Application>Microsoft Macintosh PowerPoint</Application>
  <PresentationFormat>Widescreen</PresentationFormat>
  <Paragraphs>108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Holm Kristensen</cp:lastModifiedBy>
  <cp:revision>2</cp:revision>
  <dcterms:created xsi:type="dcterms:W3CDTF">2013-01-27T09:14:16Z</dcterms:created>
  <dcterms:modified xsi:type="dcterms:W3CDTF">2026-03-23T20:07:38Z</dcterms:modified>
  <cp:category/>
</cp:coreProperties>
</file>